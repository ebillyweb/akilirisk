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pic>
        <p:nvPicPr>
          <p:cNvPr id="3" name="Image 0" descr="/Users/bwoodtalton/Projects/AkiliRisk/logo/akili-stacked-we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777240"/>
            <a:ext cx="347472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8803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Prevent family wealth from becoming family conflict.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3703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intelligence · 10 pillars · live in production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Deck · akilirisk.com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8" name="Image 1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508760"/>
            <a:ext cx="8138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survives through governance, not assumption.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 helps modern family wealth operate with clearer governance — before informal structures become costly disputes.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give families and the professionals who serve them a structured way to surface risks, align decision frameworks, and act with intention.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Problem We Solve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professional protects a piece. Nobody owns the whole picture.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7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600200"/>
            <a:ext cx="81381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HNW families rarely have a systematic view of operational risk across domains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Wealth, tax, legal, and succession professionals each see a slice — not a shared scored profile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structures fail, cost is measured in disputes and lost legacy — not basis points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need one coherent risk profile, not scattered conversations and siloed checklists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AKILI Delivers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Risk Intelligence™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7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600200"/>
            <a:ext cx="81381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structural gaps across 10 risk pillars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household posture with transparent, weighted algorithms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missing controls and remediation actions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firm-ready reports, policy templates, and recommendations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progress over time — living intelligence, not a one-time PDF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under your firm — white-label subdomains, custom intake, firm methodology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Firms Trust AKILI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brand. Your methodology. Your client relationship.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7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600200"/>
            <a:ext cx="81381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 — encrypted responses, firm-controlled visibility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methodology — governed pillars, not a generic survey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&amp; customizable — branding, subdomain, intake, and methodology overlays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Action-oriented — prioritized risks, recommendations, measurable improvement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Differentiator: firms deliver governance intelligence as their own — not a resold vendor product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" y="132588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4EA5D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39903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554480" y="1417320"/>
            <a:ext cx="109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664208" y="132588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4EA5D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64208" y="139903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898648" y="1417320"/>
            <a:ext cx="109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008376" y="132588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4EA5D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08376" y="139903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242816" y="1417320"/>
            <a:ext cx="109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52544" y="132588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4EA5D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52544" y="139903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586984" y="1417320"/>
            <a:ext cx="109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696712" y="132588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4EA5D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139903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931152" y="1417320"/>
            <a:ext cx="109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040880" y="132588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D9770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40880" y="139903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926080" y="2011680"/>
            <a:ext cx="3291840" cy="411480"/>
          </a:xfrm>
          <a:prstGeom prst="arc">
            <a:avLst/>
          </a:prstGeom>
          <a:noFill/>
          <a:ln w="19050">
            <a:solidFill>
              <a:srgbClr val="4EA5D9"/>
            </a:solidFill>
            <a:prstDash val="dash"/>
          </a:ln>
        </p:spPr>
      </p:sp>
      <p:sp>
        <p:nvSpPr>
          <p:cNvPr id="26" name="Text 23"/>
          <p:cNvSpPr/>
          <p:nvPr/>
        </p:nvSpPr>
        <p:spPr>
          <a:xfrm>
            <a:off x="292608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reassessment · trend alerts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02920" y="2697480"/>
            <a:ext cx="81381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Discovery: branded invitation, secure onboarding, AI-assisted intake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Assessment: firm-scoped pillars (1–10), emphasis weighting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→ Recommendations → Action plan → Monitoring → Reassessment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engagement: 12–15 minutes per pillar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Dual Experience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8321040" cy="914400"/>
        </p:xfrm>
        <a:graphic>
          <a:graphicData uri="http://schemas.openxmlformats.org/drawingml/2006/table">
            <a:tbl>
              <a:tblPr/>
              <a:tblGrid>
                <a:gridCol w="4160520"/>
                <a:gridCol w="4160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firms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Multi-client pipeline &amp; portfolio intelligence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magic-link access &amp; MFA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 scoping, facilitated sessions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 intake &amp; scoped 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White-label subdomains &amp; branded reports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 profiles &amp; branded 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Enterprise: team seats &amp; firm billing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Documents, policies, firm visibility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10-Pillar Framework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today. Ten domains. One household profile.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7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703320" y="2148840"/>
            <a:ext cx="1737360" cy="173736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4EA5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03320" y="25146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69080" y="667512"/>
            <a:ext cx="1005840" cy="402336"/>
          </a:xfrm>
          <a:prstGeom prst="roundRect">
            <a:avLst>
              <a:gd name="adj" fmla="val 11364"/>
            </a:avLst>
          </a:prstGeom>
          <a:solidFill>
            <a:srgbClr val="4EA5D9"/>
          </a:solidFill>
          <a:ln w="9525">
            <a:solidFill>
              <a:srgbClr val="4EA5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69080" y="72237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4572000" y="3017520"/>
            <a:ext cx="0" cy="-214884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32136" y="1077904"/>
            <a:ext cx="1005840" cy="402336"/>
          </a:xfrm>
          <a:prstGeom prst="roundRect">
            <a:avLst>
              <a:gd name="adj" fmla="val 11364"/>
            </a:avLst>
          </a:prstGeom>
          <a:solidFill>
            <a:srgbClr val="F8FAFC"/>
          </a:solidFill>
          <a:ln w="9525">
            <a:solidFill>
              <a:srgbClr val="4EA5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32136" y="11327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&amp; Digital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4572000" y="3017520"/>
            <a:ext cx="1263056" cy="-17384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12748" y="2152324"/>
            <a:ext cx="1005840" cy="402336"/>
          </a:xfrm>
          <a:prstGeom prst="roundRect">
            <a:avLst>
              <a:gd name="adj" fmla="val 11364"/>
            </a:avLst>
          </a:prstGeom>
          <a:solidFill>
            <a:srgbClr val="4EA5D9"/>
          </a:solidFill>
          <a:ln w="9525">
            <a:solidFill>
              <a:srgbClr val="4EA5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12748" y="22071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Security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4572000" y="3017520"/>
            <a:ext cx="2043668" cy="-66402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12748" y="3480380"/>
            <a:ext cx="1005840" cy="402336"/>
          </a:xfrm>
          <a:prstGeom prst="roundRect">
            <a:avLst>
              <a:gd name="adj" fmla="val 11364"/>
            </a:avLst>
          </a:prstGeom>
          <a:solidFill>
            <a:srgbClr val="F8FAFC"/>
          </a:solidFill>
          <a:ln w="9525">
            <a:solidFill>
              <a:srgbClr val="4EA5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12748" y="35352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&amp; Risk Transfer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4572000" y="3017520"/>
            <a:ext cx="2043668" cy="66402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32136" y="4554800"/>
            <a:ext cx="1005840" cy="402336"/>
          </a:xfrm>
          <a:prstGeom prst="roundRect">
            <a:avLst>
              <a:gd name="adj" fmla="val 11364"/>
            </a:avLst>
          </a:prstGeom>
          <a:solidFill>
            <a:srgbClr val="4EA5D9"/>
          </a:solidFill>
          <a:ln w="9525">
            <a:solidFill>
              <a:srgbClr val="4EA5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32136" y="460966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&amp; Environmental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4572000" y="3017520"/>
            <a:ext cx="1263056" cy="17384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069080" y="4965192"/>
            <a:ext cx="1005840" cy="402336"/>
          </a:xfrm>
          <a:prstGeom prst="roundRect">
            <a:avLst>
              <a:gd name="adj" fmla="val 11364"/>
            </a:avLst>
          </a:prstGeom>
          <a:solidFill>
            <a:srgbClr val="F8FAFC"/>
          </a:solidFill>
          <a:ln w="9525">
            <a:solidFill>
              <a:srgbClr val="4EA5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069080" y="502005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&amp; Social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4572000" y="3017520"/>
            <a:ext cx="0" cy="214884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806024" y="4554800"/>
            <a:ext cx="1005840" cy="402336"/>
          </a:xfrm>
          <a:prstGeom prst="roundRect">
            <a:avLst>
              <a:gd name="adj" fmla="val 11364"/>
            </a:avLst>
          </a:prstGeom>
          <a:solidFill>
            <a:srgbClr val="4EA5D9"/>
          </a:solidFill>
          <a:ln w="9525">
            <a:solidFill>
              <a:srgbClr val="4EA5D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806024" y="460966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&amp; Cash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4572000" y="3017520"/>
            <a:ext cx="-1263056" cy="17384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025412" y="3480380"/>
            <a:ext cx="1005840" cy="402336"/>
          </a:xfrm>
          <a:prstGeom prst="roundRect">
            <a:avLst>
              <a:gd name="adj" fmla="val 11364"/>
            </a:avLst>
          </a:prstGeom>
          <a:solidFill>
            <a:srgbClr val="F8FAFC"/>
          </a:solidFill>
          <a:ln w="9525">
            <a:solidFill>
              <a:srgbClr val="4EA5D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025412" y="35352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Exposure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0" y="3017520"/>
            <a:ext cx="-2043668" cy="66402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025412" y="2152324"/>
            <a:ext cx="1005840" cy="402336"/>
          </a:xfrm>
          <a:prstGeom prst="roundRect">
            <a:avLst>
              <a:gd name="adj" fmla="val 11364"/>
            </a:avLst>
          </a:prstGeom>
          <a:solidFill>
            <a:srgbClr val="4EA5D9"/>
          </a:solidFill>
          <a:ln w="9525">
            <a:solidFill>
              <a:srgbClr val="4EA5D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025412" y="22071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&amp; Succession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0" y="3017520"/>
            <a:ext cx="-2043668" cy="-66402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806024" y="1077904"/>
            <a:ext cx="1005840" cy="402336"/>
          </a:xfrm>
          <a:prstGeom prst="roundRect">
            <a:avLst>
              <a:gd name="adj" fmla="val 11364"/>
            </a:avLst>
          </a:prstGeom>
          <a:solidFill>
            <a:srgbClr val="F8FAFC"/>
          </a:solidFill>
          <a:ln w="9525">
            <a:solidFill>
              <a:srgbClr val="4EA5D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806024" y="11327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Resilience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4572000" y="3017520"/>
            <a:ext cx="-1263056" cy="-17384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Professional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8321040" cy="914400"/>
        </p:xfrm>
        <a:graphic>
          <a:graphicData uri="http://schemas.openxmlformats.org/drawingml/2006/table">
            <a:tbl>
              <a:tblPr/>
              <a:tblGrid>
                <a:gridCol w="4160520"/>
                <a:gridCol w="4160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Branded invitations, white-label subdomains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intake + transcription; firm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 scope, emphasis, intake waivers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Facilitated or self-service; auto-save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reports, policy templates, documents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plans, tracking, reassessment with score deltas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Pipeline, notifications, intelligence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Intelligence &amp; Deliverables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508760"/>
            <a:ext cx="8138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score (0–10) across all 10 pillars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heat map with trend tracking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controls ranked by severity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recommendations mapped to services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templates &amp; branded PDF reports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intake: audio + transcription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Built for Trust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8321040" cy="914400"/>
        </p:xfrm>
        <a:graphic>
          <a:graphicData uri="http://schemas.openxmlformats.org/drawingml/2006/table">
            <a:tbl>
              <a:tblPr/>
              <a:tblGrid>
                <a:gridCol w="4160520"/>
                <a:gridCol w="4160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TOTP MFA, magic-link access, RBAC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AES-256-GCM; presigned S3 document uploads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Row-level data isolation; firm–client enforcement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 workflows, audit logging, PII controls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Who We Serve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8321040" cy="914400"/>
        </p:xfrm>
        <a:graphic>
          <a:graphicData uri="http://schemas.openxmlformats.org/drawingml/2006/table">
            <a:tbl>
              <a:tblPr/>
              <a:tblGrid>
                <a:gridCol w="4160520"/>
                <a:gridCol w="4160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Wealth advisors &amp; RIAs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intelligence alongside financial planning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CPAs &amp; tax advisory firms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Tax, liquidity, and continuity visibility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Estate attorneys &amp; succession planners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Evidence-based governance 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offices &amp; MFOs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 assessment across the 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professional firms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White-label, team seats, firm client limits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8321040" cy="914400"/>
        </p:xfrm>
        <a:graphic>
          <a:graphicData uri="http://schemas.openxmlformats.org/drawingml/2006/table">
            <a:tbl>
              <a:tblPr/>
              <a:tblGrid>
                <a:gridCol w="2773680"/>
                <a:gridCol w="2773680"/>
                <a:gridCol w="277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Essentials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practitioner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 firm + customization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Growing firm + branding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Platinum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High-volume firm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Negotiated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Multi-seat firms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 Status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 today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7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600200"/>
            <a:ext cx="81381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Belvedere — first enterprise client on white-label platform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10-pillar framework · 150+ questions · full professional lifecycle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engine, enterprise architecture, Stripe billing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flight: executive PDF reporting, cross-pillar AI insights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Platform Vision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508760"/>
            <a:ext cx="8138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infrastructure for the professional ecosystem around family wealth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family governance records &amp; decision logs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reassessment &amp; measurable risk reduction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management, document vault, AI-guided planning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Cross-generational continuity infrastructure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pic>
        <p:nvPicPr>
          <p:cNvPr id="3" name="Image 0" descr="/Users/bwoodtalton/Projects/AkiliRisk/logo/akili-stacked-we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777240"/>
            <a:ext cx="2926080" cy="1691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Get Started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246120"/>
          <a:ext cx="8321040" cy="914400"/>
        </p:xfrm>
        <a:graphic>
          <a:graphicData uri="http://schemas.openxmlformats.org/drawingml/2006/table">
            <a:tbl>
              <a:tblPr/>
              <a:tblGrid>
                <a:gridCol w="4160520"/>
                <a:gridCol w="4160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firms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akilirisk.com/contact?intent=demo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firms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sales@akilirisk.com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inquiries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hello@akilirisk.com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7" name="Image 1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AKILI Risk Intelligence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AKILI Risk Intelligence — Product Deck</dc:title>
  <dc:subject>Product Deck</dc:subject>
  <dc:creator>AKILI Risk Intelligence</dc:creator>
  <cp:lastModifiedBy>AKILI Risk Intelligence</cp:lastModifiedBy>
  <cp:revision>1</cp:revision>
  <dcterms:created xsi:type="dcterms:W3CDTF">2026-06-28T16:01:21Z</dcterms:created>
  <dcterms:modified xsi:type="dcterms:W3CDTF">2026-06-28T16:01:21Z</dcterms:modified>
</cp:coreProperties>
</file>