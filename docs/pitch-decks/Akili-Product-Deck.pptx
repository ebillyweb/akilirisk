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4EA5D9"/>
          </a:solidFill>
          <a:ln w="12700">
            <a:solidFill>
              <a:srgbClr val="4EA5D9"/>
            </a:solidFill>
            <a:prstDash val="solid"/>
          </a:ln>
        </p:spPr>
      </p:sp>
      <p:pic>
        <p:nvPicPr>
          <p:cNvPr id="3" name="Image 0" descr="/Users/bwoodtalton/Projects/AkiliRisk/logo/akili-stacked-web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34640" y="777240"/>
            <a:ext cx="3474720" cy="201168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48640" y="2880360"/>
            <a:ext cx="8046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Prevent family wealth from becoming family conflict.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548640" y="3703320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EA5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10-pillar family risk framework · live in production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548640" y="43434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Deck · akilirisk.com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0" y="4709160"/>
            <a:ext cx="9144000" cy="32004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pic>
        <p:nvPicPr>
          <p:cNvPr id="8" name="Image 1" descr="/Users/bwoodtalton/Projects/AkiliRisk/logo/akili-horizontal-compac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4754880"/>
            <a:ext cx="1234440" cy="25603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7498080" y="4773168"/>
            <a:ext cx="1280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EA5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akilirisk.com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4EA5D9"/>
          </a:solidFill>
          <a:ln w="12700">
            <a:solidFill>
              <a:srgbClr val="4EA5D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0040" y="502920"/>
            <a:ext cx="54864" cy="50292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411480"/>
            <a:ext cx="813816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Mission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0" y="4709160"/>
            <a:ext cx="914400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pic>
        <p:nvPicPr>
          <p:cNvPr id="6" name="Image 0" descr="/Users/bwoodtalton/Projects/AkiliRisk/logo/akili-horizontal-compac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040" y="4754880"/>
            <a:ext cx="1234440" cy="25603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498080" y="4773168"/>
            <a:ext cx="1280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akilirisk.com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502920" y="1508760"/>
            <a:ext cx="8138160" cy="3520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Legacy survives through governance, not assumption.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AKILI helps modern family wealth operate with clearer governance — before informal structures become costly disputes.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give families and advisors a structured way to surface risks, align decision frameworks, and act with intention.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4EA5D9"/>
          </a:solidFill>
          <a:ln w="12700">
            <a:solidFill>
              <a:srgbClr val="4EA5D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0040" y="502920"/>
            <a:ext cx="54864" cy="50292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411480"/>
            <a:ext cx="813816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The Problem We Solve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051560"/>
            <a:ext cx="8138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Wealth is managed. Governance is assumed.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0" y="4709160"/>
            <a:ext cx="914400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pic>
        <p:nvPicPr>
          <p:cNvPr id="7" name="Image 0" descr="/Users/bwoodtalton/Projects/AkiliRisk/logo/akili-horizontal-compac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040" y="4754880"/>
            <a:ext cx="1234440" cy="25603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498080" y="4773168"/>
            <a:ext cx="1280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akilirisk.com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502920" y="1600200"/>
            <a:ext cx="8138160" cy="3429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HNW families rarely have a systematic view of non-financial risk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Advisors lack a repeatable way to surface governance, cyber, succession, and continuity gaps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structures fail, cost is measured in disputes and lost legacy — not basis points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Families need one coherent risk profile, not scattered conversations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4EA5D9"/>
          </a:solidFill>
          <a:ln w="12700">
            <a:solidFill>
              <a:srgbClr val="4EA5D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0040" y="502920"/>
            <a:ext cx="54864" cy="50292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411480"/>
            <a:ext cx="813816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What AKILI Delivers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051560"/>
            <a:ext cx="8138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Family Risk Intelligence™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0" y="4709160"/>
            <a:ext cx="914400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pic>
        <p:nvPicPr>
          <p:cNvPr id="7" name="Image 0" descr="/Users/bwoodtalton/Projects/AkiliRisk/logo/akili-horizontal-compac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040" y="4754880"/>
            <a:ext cx="1234440" cy="25603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498080" y="4773168"/>
            <a:ext cx="1280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akilirisk.com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502920" y="1600200"/>
            <a:ext cx="8138160" cy="3429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Surfaces structural gaps across 10 risk pillars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Scores household posture with transparent, weighted algorithms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Prioritizes missing controls and remediation actions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Delivers advisor-ready reports, policy templates, and recommendations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Tracks progress over time — living intelligence, not a one-time PDF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4EA5D9"/>
          </a:solidFill>
          <a:ln w="12700">
            <a:solidFill>
              <a:srgbClr val="4EA5D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0040" y="502920"/>
            <a:ext cx="54864" cy="50292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411480"/>
            <a:ext cx="813816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How It Works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0" y="4709160"/>
            <a:ext cx="914400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pic>
        <p:nvPicPr>
          <p:cNvPr id="6" name="Image 0" descr="/Users/bwoodtalton/Projects/AkiliRisk/logo/akili-horizontal-compac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040" y="4754880"/>
            <a:ext cx="1234440" cy="25603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498080" y="4773168"/>
            <a:ext cx="1280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akilirisk.com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320040" y="1325880"/>
            <a:ext cx="1234440" cy="502920"/>
          </a:xfrm>
          <a:prstGeom prst="roundRect">
            <a:avLst>
              <a:gd name="adj" fmla="val 14545"/>
            </a:avLst>
          </a:prstGeom>
          <a:solidFill>
            <a:srgbClr val="4EA5D9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20040" y="1399032"/>
            <a:ext cx="1234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Discovery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554480" y="1417320"/>
            <a:ext cx="10972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</a:rPr>
              <a:t>→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1664208" y="1325880"/>
            <a:ext cx="1234440" cy="502920"/>
          </a:xfrm>
          <a:prstGeom prst="roundRect">
            <a:avLst>
              <a:gd name="adj" fmla="val 14545"/>
            </a:avLst>
          </a:prstGeom>
          <a:solidFill>
            <a:srgbClr val="4EA5D9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664208" y="1399032"/>
            <a:ext cx="1234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Assessment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2898648" y="1417320"/>
            <a:ext cx="10972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</a:rPr>
              <a:t>→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3008376" y="1325880"/>
            <a:ext cx="1234440" cy="502920"/>
          </a:xfrm>
          <a:prstGeom prst="roundRect">
            <a:avLst>
              <a:gd name="adj" fmla="val 14545"/>
            </a:avLst>
          </a:prstGeom>
          <a:solidFill>
            <a:srgbClr val="4EA5D9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008376" y="1399032"/>
            <a:ext cx="1234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Insights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4242816" y="1417320"/>
            <a:ext cx="10972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</a:rPr>
              <a:t>→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352544" y="1325880"/>
            <a:ext cx="1234440" cy="502920"/>
          </a:xfrm>
          <a:prstGeom prst="roundRect">
            <a:avLst>
              <a:gd name="adj" fmla="val 14545"/>
            </a:avLst>
          </a:prstGeom>
          <a:solidFill>
            <a:srgbClr val="4EA5D9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352544" y="1399032"/>
            <a:ext cx="1234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Recommendations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5586984" y="1417320"/>
            <a:ext cx="10972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</a:rPr>
              <a:t>→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5696712" y="1325880"/>
            <a:ext cx="1234440" cy="502920"/>
          </a:xfrm>
          <a:prstGeom prst="roundRect">
            <a:avLst>
              <a:gd name="adj" fmla="val 14545"/>
            </a:avLst>
          </a:prstGeom>
          <a:solidFill>
            <a:srgbClr val="4EA5D9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5696712" y="1399032"/>
            <a:ext cx="1234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Plan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6931152" y="1417320"/>
            <a:ext cx="10972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</a:rPr>
              <a:t>→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7040880" y="1325880"/>
            <a:ext cx="1234440" cy="502920"/>
          </a:xfrm>
          <a:prstGeom prst="roundRect">
            <a:avLst>
              <a:gd name="adj" fmla="val 14545"/>
            </a:avLst>
          </a:prstGeom>
          <a:solidFill>
            <a:srgbClr val="D97706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040880" y="1399032"/>
            <a:ext cx="1234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2926080" y="2011680"/>
            <a:ext cx="3291840" cy="411480"/>
          </a:xfrm>
          <a:prstGeom prst="arc">
            <a:avLst/>
          </a:prstGeom>
          <a:noFill/>
          <a:ln w="19050">
            <a:solidFill>
              <a:srgbClr val="4EA5D9"/>
            </a:solidFill>
            <a:prstDash val="dash"/>
          </a:ln>
        </p:spPr>
      </p:sp>
      <p:sp>
        <p:nvSpPr>
          <p:cNvPr id="26" name="Text 23"/>
          <p:cNvSpPr/>
          <p:nvPr/>
        </p:nvSpPr>
        <p:spPr>
          <a:xfrm>
            <a:off x="2926080" y="237744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reassessment · trend alerts</a:t>
            </a:r>
            <a:endParaRPr lang="en-US" sz="900" dirty="0"/>
          </a:p>
        </p:txBody>
      </p:sp>
      <p:sp>
        <p:nvSpPr>
          <p:cNvPr id="27" name="Text 24"/>
          <p:cNvSpPr/>
          <p:nvPr/>
        </p:nvSpPr>
        <p:spPr>
          <a:xfrm>
            <a:off x="502920" y="2697480"/>
            <a:ext cx="8138160" cy="2331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Discovery: branded invitation, secure onboarding, AI-assisted intake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Assessment: advisor-scoped pillars (1–10), emphasis weighting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Insights → Recommendations → Action plan → Monitoring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Typical engagement: 12–15 minutes per pillar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4EA5D9"/>
          </a:solidFill>
          <a:ln w="12700">
            <a:solidFill>
              <a:srgbClr val="4EA5D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0040" y="502920"/>
            <a:ext cx="54864" cy="50292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411480"/>
            <a:ext cx="813816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Dual Experience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0" y="4709160"/>
            <a:ext cx="914400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pic>
        <p:nvPicPr>
          <p:cNvPr id="6" name="Image 0" descr="/Users/bwoodtalton/Projects/AkiliRisk/logo/akili-horizontal-compac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040" y="4754880"/>
            <a:ext cx="1234440" cy="25603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498080" y="4773168"/>
            <a:ext cx="1280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akilirisk.com</a:t>
            </a:r>
            <a:endParaRPr lang="en-US" sz="9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417320"/>
          <a:ext cx="8321040" cy="914400"/>
        </p:xfrm>
        <a:graphic>
          <a:graphicData uri="http://schemas.openxmlformats.org/drawingml/2006/table">
            <a:tbl>
              <a:tblPr/>
              <a:tblGrid>
                <a:gridCol w="4160520"/>
                <a:gridCol w="41605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Advisors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Families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Multi-client pipeline &amp; portfolio intelligence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Secure magic-link access &amp; MFA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Pillar scoping, facilitated sessions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Guided intake &amp; scoped assessment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White-label subdomains &amp; branded reports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Household profiles &amp; branded dashboard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Enterprise: team seats &amp; firm billing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Documents, policies, advisor visibility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4EA5D9"/>
          </a:solidFill>
          <a:ln w="12700">
            <a:solidFill>
              <a:srgbClr val="4EA5D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0040" y="502920"/>
            <a:ext cx="54864" cy="50292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411480"/>
            <a:ext cx="813816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10-Pillar Framework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051560"/>
            <a:ext cx="8138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Shipped today. Ten domains. One household profile.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0" y="4709160"/>
            <a:ext cx="914400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pic>
        <p:nvPicPr>
          <p:cNvPr id="7" name="Image 0" descr="/Users/bwoodtalton/Projects/AkiliRisk/logo/akili-horizontal-compac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040" y="4754880"/>
            <a:ext cx="1234440" cy="25603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498080" y="4773168"/>
            <a:ext cx="1280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akilirisk.com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3703320" y="2148840"/>
            <a:ext cx="1737360" cy="1737360"/>
          </a:xfrm>
          <a:prstGeom prst="ellipse">
            <a:avLst/>
          </a:prstGeom>
          <a:solidFill>
            <a:srgbClr val="1E293B"/>
          </a:solidFill>
          <a:ln w="25400">
            <a:solidFill>
              <a:srgbClr val="4EA5D9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703320" y="2514600"/>
            <a:ext cx="17373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Pillars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4069080" y="667512"/>
            <a:ext cx="1005840" cy="402336"/>
          </a:xfrm>
          <a:prstGeom prst="roundRect">
            <a:avLst>
              <a:gd name="adj" fmla="val 11364"/>
            </a:avLst>
          </a:prstGeom>
          <a:solidFill>
            <a:srgbClr val="4EA5D9"/>
          </a:solidFill>
          <a:ln w="9525">
            <a:solidFill>
              <a:srgbClr val="4EA5D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069080" y="722376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</a:t>
            </a:r>
            <a:endParaRPr lang="en-US" sz="650" dirty="0"/>
          </a:p>
        </p:txBody>
      </p:sp>
      <p:sp>
        <p:nvSpPr>
          <p:cNvPr id="13" name="Shape 10"/>
          <p:cNvSpPr/>
          <p:nvPr/>
        </p:nvSpPr>
        <p:spPr>
          <a:xfrm>
            <a:off x="4572000" y="3017520"/>
            <a:ext cx="0" cy="-214884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5332136" y="1077904"/>
            <a:ext cx="1005840" cy="402336"/>
          </a:xfrm>
          <a:prstGeom prst="roundRect">
            <a:avLst>
              <a:gd name="adj" fmla="val 11364"/>
            </a:avLst>
          </a:prstGeom>
          <a:solidFill>
            <a:srgbClr val="F8FAFC"/>
          </a:solidFill>
          <a:ln w="9525">
            <a:solidFill>
              <a:srgbClr val="4EA5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332136" y="1132768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 &amp; Digital</a:t>
            </a:r>
            <a:endParaRPr lang="en-US" sz="650" dirty="0"/>
          </a:p>
        </p:txBody>
      </p:sp>
      <p:sp>
        <p:nvSpPr>
          <p:cNvPr id="16" name="Shape 13"/>
          <p:cNvSpPr/>
          <p:nvPr/>
        </p:nvSpPr>
        <p:spPr>
          <a:xfrm>
            <a:off x="4572000" y="3017520"/>
            <a:ext cx="1263056" cy="-1738448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112748" y="2152324"/>
            <a:ext cx="1005840" cy="402336"/>
          </a:xfrm>
          <a:prstGeom prst="roundRect">
            <a:avLst>
              <a:gd name="adj" fmla="val 11364"/>
            </a:avLst>
          </a:prstGeom>
          <a:solidFill>
            <a:srgbClr val="4EA5D9"/>
          </a:solidFill>
          <a:ln w="9525">
            <a:solidFill>
              <a:srgbClr val="4EA5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112748" y="2207188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Security</a:t>
            </a:r>
            <a:endParaRPr lang="en-US" sz="650" dirty="0"/>
          </a:p>
        </p:txBody>
      </p:sp>
      <p:sp>
        <p:nvSpPr>
          <p:cNvPr id="19" name="Shape 16"/>
          <p:cNvSpPr/>
          <p:nvPr/>
        </p:nvSpPr>
        <p:spPr>
          <a:xfrm>
            <a:off x="4572000" y="3017520"/>
            <a:ext cx="2043668" cy="-664028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112748" y="3480380"/>
            <a:ext cx="1005840" cy="402336"/>
          </a:xfrm>
          <a:prstGeom prst="roundRect">
            <a:avLst>
              <a:gd name="adj" fmla="val 11364"/>
            </a:avLst>
          </a:prstGeom>
          <a:solidFill>
            <a:srgbClr val="F8FAFC"/>
          </a:solidFill>
          <a:ln w="9525">
            <a:solidFill>
              <a:srgbClr val="4EA5D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112748" y="3535244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Protection &amp; Risk Transfer</a:t>
            </a:r>
            <a:endParaRPr lang="en-US" sz="650" dirty="0"/>
          </a:p>
        </p:txBody>
      </p:sp>
      <p:sp>
        <p:nvSpPr>
          <p:cNvPr id="22" name="Shape 19"/>
          <p:cNvSpPr/>
          <p:nvPr/>
        </p:nvSpPr>
        <p:spPr>
          <a:xfrm>
            <a:off x="4572000" y="3017520"/>
            <a:ext cx="2043668" cy="664028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5332136" y="4554800"/>
            <a:ext cx="1005840" cy="402336"/>
          </a:xfrm>
          <a:prstGeom prst="roundRect">
            <a:avLst>
              <a:gd name="adj" fmla="val 11364"/>
            </a:avLst>
          </a:prstGeom>
          <a:solidFill>
            <a:srgbClr val="4EA5D9"/>
          </a:solidFill>
          <a:ln w="9525">
            <a:solidFill>
              <a:srgbClr val="4EA5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332136" y="4609664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Geographic &amp; Environmental</a:t>
            </a:r>
            <a:endParaRPr lang="en-US" sz="650" dirty="0"/>
          </a:p>
        </p:txBody>
      </p:sp>
      <p:sp>
        <p:nvSpPr>
          <p:cNvPr id="25" name="Shape 22"/>
          <p:cNvSpPr/>
          <p:nvPr/>
        </p:nvSpPr>
        <p:spPr>
          <a:xfrm>
            <a:off x="4572000" y="3017520"/>
            <a:ext cx="1263056" cy="1738448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4069080" y="4965192"/>
            <a:ext cx="1005840" cy="402336"/>
          </a:xfrm>
          <a:prstGeom prst="roundRect">
            <a:avLst>
              <a:gd name="adj" fmla="val 11364"/>
            </a:avLst>
          </a:prstGeom>
          <a:solidFill>
            <a:srgbClr val="F8FAFC"/>
          </a:solidFill>
          <a:ln w="9525">
            <a:solidFill>
              <a:srgbClr val="4EA5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069080" y="5020056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Reputation &amp; Social</a:t>
            </a:r>
            <a:endParaRPr lang="en-US" sz="650" dirty="0"/>
          </a:p>
        </p:txBody>
      </p:sp>
      <p:sp>
        <p:nvSpPr>
          <p:cNvPr id="28" name="Shape 25"/>
          <p:cNvSpPr/>
          <p:nvPr/>
        </p:nvSpPr>
        <p:spPr>
          <a:xfrm>
            <a:off x="4572000" y="3017520"/>
            <a:ext cx="0" cy="214884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2806024" y="4554800"/>
            <a:ext cx="1005840" cy="402336"/>
          </a:xfrm>
          <a:prstGeom prst="roundRect">
            <a:avLst>
              <a:gd name="adj" fmla="val 11364"/>
            </a:avLst>
          </a:prstGeom>
          <a:solidFill>
            <a:srgbClr val="4EA5D9"/>
          </a:solidFill>
          <a:ln w="9525">
            <a:solidFill>
              <a:srgbClr val="4EA5D9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2806024" y="4609664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Liquidity &amp; Cash</a:t>
            </a:r>
            <a:endParaRPr lang="en-US" sz="650" dirty="0"/>
          </a:p>
        </p:txBody>
      </p:sp>
      <p:sp>
        <p:nvSpPr>
          <p:cNvPr id="31" name="Shape 28"/>
          <p:cNvSpPr/>
          <p:nvPr/>
        </p:nvSpPr>
        <p:spPr>
          <a:xfrm>
            <a:off x="4572000" y="3017520"/>
            <a:ext cx="-1263056" cy="1738448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2025412" y="3480380"/>
            <a:ext cx="1005840" cy="402336"/>
          </a:xfrm>
          <a:prstGeom prst="roundRect">
            <a:avLst>
              <a:gd name="adj" fmla="val 11364"/>
            </a:avLst>
          </a:prstGeom>
          <a:solidFill>
            <a:srgbClr val="F8FAFC"/>
          </a:solidFill>
          <a:ln w="9525">
            <a:solidFill>
              <a:srgbClr val="4EA5D9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2025412" y="3535244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 Exposure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0" y="3017520"/>
            <a:ext cx="-2043668" cy="664028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2025412" y="2152324"/>
            <a:ext cx="1005840" cy="402336"/>
          </a:xfrm>
          <a:prstGeom prst="roundRect">
            <a:avLst>
              <a:gd name="adj" fmla="val 11364"/>
            </a:avLst>
          </a:prstGeom>
          <a:solidFill>
            <a:srgbClr val="4EA5D9"/>
          </a:solidFill>
          <a:ln w="9525">
            <a:solidFill>
              <a:srgbClr val="4EA5D9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2025412" y="2207188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Estate &amp; Succession</a:t>
            </a:r>
            <a:endParaRPr lang="en-US" sz="650" dirty="0"/>
          </a:p>
        </p:txBody>
      </p:sp>
      <p:sp>
        <p:nvSpPr>
          <p:cNvPr id="37" name="Shape 34"/>
          <p:cNvSpPr/>
          <p:nvPr/>
        </p:nvSpPr>
        <p:spPr>
          <a:xfrm>
            <a:off x="4572000" y="3017520"/>
            <a:ext cx="-2043668" cy="-664028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2806024" y="1077904"/>
            <a:ext cx="1005840" cy="402336"/>
          </a:xfrm>
          <a:prstGeom prst="roundRect">
            <a:avLst>
              <a:gd name="adj" fmla="val 11364"/>
            </a:avLst>
          </a:prstGeom>
          <a:solidFill>
            <a:srgbClr val="F8FAFC"/>
          </a:solidFill>
          <a:ln w="9525">
            <a:solidFill>
              <a:srgbClr val="4EA5D9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2806024" y="1132768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Behavioral Resilience</a:t>
            </a:r>
            <a:endParaRPr lang="en-US" sz="650" dirty="0"/>
          </a:p>
        </p:txBody>
      </p:sp>
      <p:sp>
        <p:nvSpPr>
          <p:cNvPr id="40" name="Shape 37"/>
          <p:cNvSpPr/>
          <p:nvPr/>
        </p:nvSpPr>
        <p:spPr>
          <a:xfrm>
            <a:off x="4572000" y="3017520"/>
            <a:ext cx="-1263056" cy="-1738448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4EA5D9"/>
          </a:solidFill>
          <a:ln w="12700">
            <a:solidFill>
              <a:srgbClr val="4EA5D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0040" y="502920"/>
            <a:ext cx="54864" cy="50292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411480"/>
            <a:ext cx="813816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Advisor Workflow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0" y="4709160"/>
            <a:ext cx="914400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pic>
        <p:nvPicPr>
          <p:cNvPr id="6" name="Image 0" descr="/Users/bwoodtalton/Projects/AkiliRisk/logo/akili-horizontal-compac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040" y="4754880"/>
            <a:ext cx="1234440" cy="25603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498080" y="4773168"/>
            <a:ext cx="1280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akilirisk.com</a:t>
            </a:r>
            <a:endParaRPr lang="en-US" sz="9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417320"/>
          <a:ext cx="8321040" cy="914400"/>
        </p:xfrm>
        <a:graphic>
          <a:graphicData uri="http://schemas.openxmlformats.org/drawingml/2006/table">
            <a:tbl>
              <a:tblPr/>
              <a:tblGrid>
                <a:gridCol w="4160520"/>
                <a:gridCol w="41605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Capability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Acquire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Branded invitations, white-label subdomains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Discover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Audio intake + transcription; advisor review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Customize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Pillar scope, emphasis, intake waivers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Assess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Facilitated or self-service; auto-save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Deliver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PDF reports, policy templates, documents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Manage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Pipeline, notifications, intelligence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4EA5D9"/>
          </a:solidFill>
          <a:ln w="12700">
            <a:solidFill>
              <a:srgbClr val="4EA5D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0040" y="502920"/>
            <a:ext cx="54864" cy="50292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411480"/>
            <a:ext cx="813816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Intelligence &amp; Deliverables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0" y="4709160"/>
            <a:ext cx="914400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pic>
        <p:nvPicPr>
          <p:cNvPr id="6" name="Image 0" descr="/Users/bwoodtalton/Projects/AkiliRisk/logo/akili-horizontal-compac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040" y="4754880"/>
            <a:ext cx="1234440" cy="25603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498080" y="4773168"/>
            <a:ext cx="1280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akilirisk.com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502920" y="1508760"/>
            <a:ext cx="8138160" cy="3520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Composite risk score (0–10) across all 10 pillars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heat map with trend tracking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controls ranked by severity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recommendations mapped to services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 templates &amp; branded PDF reports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AI-assisted intake: audio + transcription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4EA5D9"/>
          </a:solidFill>
          <a:ln w="12700">
            <a:solidFill>
              <a:srgbClr val="4EA5D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0040" y="502920"/>
            <a:ext cx="54864" cy="50292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411480"/>
            <a:ext cx="813816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Built for Trust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0" y="4709160"/>
            <a:ext cx="914400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pic>
        <p:nvPicPr>
          <p:cNvPr id="6" name="Image 0" descr="/Users/bwoodtalton/Projects/AkiliRisk/logo/akili-horizontal-compac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040" y="4754880"/>
            <a:ext cx="1234440" cy="25603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498080" y="4773168"/>
            <a:ext cx="1280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akilirisk.com</a:t>
            </a:r>
            <a:endParaRPr lang="en-US" sz="9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417320"/>
          <a:ext cx="8321040" cy="914400"/>
        </p:xfrm>
        <a:graphic>
          <a:graphicData uri="http://schemas.openxmlformats.org/drawingml/2006/table">
            <a:tbl>
              <a:tblPr/>
              <a:tblGrid>
                <a:gridCol w="4160520"/>
                <a:gridCol w="41605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Control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Implementation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Authentication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TOTP MFA, magic-link access, RBAC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Encryption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AES-256-GCM; presigned S3 document uploads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Isolation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Row-level data isolation; advisor–client enforcement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Compliance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Consent workflows, audit logging, PII controls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4EA5D9"/>
          </a:solidFill>
          <a:ln w="12700">
            <a:solidFill>
              <a:srgbClr val="4EA5D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0040" y="502920"/>
            <a:ext cx="54864" cy="50292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411480"/>
            <a:ext cx="813816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Who We Serve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0" y="4709160"/>
            <a:ext cx="914400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pic>
        <p:nvPicPr>
          <p:cNvPr id="6" name="Image 0" descr="/Users/bwoodtalton/Projects/AkiliRisk/logo/akili-horizontal-compac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040" y="4754880"/>
            <a:ext cx="1234440" cy="25603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498080" y="4773168"/>
            <a:ext cx="1280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akilirisk.com</a:t>
            </a:r>
            <a:endParaRPr lang="en-US" sz="9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417320"/>
          <a:ext cx="8321040" cy="914400"/>
        </p:xfrm>
        <a:graphic>
          <a:graphicData uri="http://schemas.openxmlformats.org/drawingml/2006/table">
            <a:tbl>
              <a:tblPr/>
              <a:tblGrid>
                <a:gridCol w="4160520"/>
                <a:gridCol w="41605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Segment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Wealth advisors &amp; RIAs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Governance alongside financial planning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Multi-family offices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Standardized assessment across the book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Family leadership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Succession readiness &amp; decision frameworks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Enterprise firms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White-label, team seats, firm client limits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4EA5D9"/>
          </a:solidFill>
          <a:ln w="12700">
            <a:solidFill>
              <a:srgbClr val="4EA5D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0040" y="502920"/>
            <a:ext cx="54864" cy="50292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411480"/>
            <a:ext cx="813816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Business Model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0" y="4709160"/>
            <a:ext cx="914400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pic>
        <p:nvPicPr>
          <p:cNvPr id="6" name="Image 0" descr="/Users/bwoodtalton/Projects/AkiliRisk/logo/akili-horizontal-compac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040" y="4754880"/>
            <a:ext cx="1234440" cy="25603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498080" y="4773168"/>
            <a:ext cx="1280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akilirisk.com</a:t>
            </a:r>
            <a:endParaRPr lang="en-US" sz="9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417320"/>
          <a:ext cx="8321040" cy="914400"/>
        </p:xfrm>
        <a:graphic>
          <a:graphicData uri="http://schemas.openxmlformats.org/drawingml/2006/table">
            <a:tbl>
              <a:tblPr/>
              <a:tblGrid>
                <a:gridCol w="2773680"/>
                <a:gridCol w="2773680"/>
                <a:gridCol w="2773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Clients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Target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Starter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Solo advisors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Growth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Small practices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Professional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Established firms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Enterprise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Negotiated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Multi-advisor firms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4EA5D9"/>
          </a:solidFill>
          <a:ln w="12700">
            <a:solidFill>
              <a:srgbClr val="4EA5D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0040" y="502920"/>
            <a:ext cx="54864" cy="50292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411480"/>
            <a:ext cx="813816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Product Status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051560"/>
            <a:ext cx="8138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in production today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0" y="4709160"/>
            <a:ext cx="914400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pic>
        <p:nvPicPr>
          <p:cNvPr id="7" name="Image 0" descr="/Users/bwoodtalton/Projects/AkiliRisk/logo/akili-horizontal-compac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040" y="4754880"/>
            <a:ext cx="1234440" cy="25603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498080" y="4773168"/>
            <a:ext cx="1280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akilirisk.com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502920" y="1600200"/>
            <a:ext cx="8138160" cy="3429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Belvedere — first enterprise client on white-label platform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10-pillar framework · 150+ questions · full advisor lifecycle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Scoring engine, enterprise architecture, Stripe billing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flight: composite scoring, cross-pillar AI insights, action plans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4EA5D9"/>
          </a:solidFill>
          <a:ln w="12700">
            <a:solidFill>
              <a:srgbClr val="4EA5D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0040" y="502920"/>
            <a:ext cx="54864" cy="50292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411480"/>
            <a:ext cx="813816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Platform Vision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0" y="4709160"/>
            <a:ext cx="914400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pic>
        <p:nvPicPr>
          <p:cNvPr id="6" name="Image 0" descr="/Users/bwoodtalton/Projects/AkiliRisk/logo/akili-horizontal-compac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040" y="4754880"/>
            <a:ext cx="1234440" cy="25603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498080" y="4773168"/>
            <a:ext cx="1280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akilirisk.com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502920" y="1508760"/>
            <a:ext cx="8138160" cy="3520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assessment is the first application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Living family governance records &amp; decision logs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reassessments &amp; continuous monitoring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 management, document vault, AI-guided planning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Cross-generational continuity infrastructure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4EA5D9"/>
          </a:solidFill>
          <a:ln w="12700">
            <a:solidFill>
              <a:srgbClr val="4EA5D9"/>
            </a:solidFill>
            <a:prstDash val="solid"/>
          </a:ln>
        </p:spPr>
      </p:sp>
      <p:pic>
        <p:nvPicPr>
          <p:cNvPr id="3" name="Image 0" descr="/Users/bwoodtalton/Projects/AkiliRisk/logo/akili-stacked-web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08960" y="777240"/>
            <a:ext cx="2926080" cy="16916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48640" y="260604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Get Started</a:t>
            </a:r>
            <a:endParaRPr lang="en-US" sz="32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3246120"/>
          <a:ext cx="8321040" cy="914400"/>
        </p:xfrm>
        <a:graphic>
          <a:graphicData uri="http://schemas.openxmlformats.org/drawingml/2006/table">
            <a:tbl>
              <a:tblPr/>
              <a:tblGrid>
                <a:gridCol w="4160520"/>
                <a:gridCol w="41605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Audience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Next step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Advisors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akilirisk.com/contact?intent=demo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Enterprise firms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sales@akilirisk.com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General inquiries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hello@akilirisk.com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0" y="4709160"/>
            <a:ext cx="9144000" cy="32004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pic>
        <p:nvPicPr>
          <p:cNvPr id="7" name="Image 1" descr="/Users/bwoodtalton/Projects/AkiliRisk/logo/akili-horizontal-compac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4754880"/>
            <a:ext cx="1234440" cy="256032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7498080" y="4773168"/>
            <a:ext cx="1280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EA5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akilirisk.com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AKILI Risk Intelligence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AKILI Risk Intelligence — Product Deck</dc:title>
  <dc:subject>Product Deck</dc:subject>
  <dc:creator>AKILI Risk Intelligence</dc:creator>
  <cp:lastModifiedBy>AKILI Risk Intelligence</cp:lastModifiedBy>
  <cp:revision>1</cp:revision>
  <dcterms:created xsi:type="dcterms:W3CDTF">2026-06-25T04:00:34Z</dcterms:created>
  <dcterms:modified xsi:type="dcterms:W3CDTF">2026-06-25T04:00:34Z</dcterms:modified>
</cp:coreProperties>
</file>