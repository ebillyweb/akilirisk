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EA5D9"/>
          </a:solidFill>
          <a:ln w="12700">
            <a:solidFill>
              <a:srgbClr val="4EA5D9"/>
            </a:solidFill>
            <a:prstDash val="solid"/>
          </a:ln>
        </p:spPr>
      </p:sp>
      <p:pic>
        <p:nvPicPr>
          <p:cNvPr id="3" name="Image 0" descr="/Users/bwoodtalton/Projects/AkiliRisk/logo/akili-stacked-we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777240"/>
            <a:ext cx="3474720" cy="2011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8803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governance intelligence platform for modern family wealth.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Deck · akilirisk.com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pic>
        <p:nvPicPr>
          <p:cNvPr id="7" name="Image 1" descr="/Users/bwoodtalton/Projects/AkiliRisk/logo/akili-horizontal-compa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754880"/>
            <a:ext cx="1234440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98080" y="47731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E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akilirisk.com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EA5D9"/>
          </a:solidFill>
          <a:ln w="12700">
            <a:solidFill>
              <a:srgbClr val="4EA5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02920"/>
            <a:ext cx="54864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6" name="Image 0" descr="/Users/bwoodtalton/Projects/AkiliRisk/logo/akili-horizontal-co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4754880"/>
            <a:ext cx="1234440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0" y="47731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akilirisk.com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141732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professional protects a piece of the family.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Nobody owns the whole picture.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02920" y="2606040"/>
            <a:ext cx="8138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spend millions on wealth management, tax planning, estate counsel, and cybersecurity — but almost nothing measuring whether the family itself is governable over time.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EA5D9"/>
          </a:solidFill>
          <a:ln w="12700">
            <a:solidFill>
              <a:srgbClr val="4EA5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02920"/>
            <a:ext cx="54864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When Everything Fails Operationally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a wealthy family. $40M net worth. Everything appears perfect.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7" name="Image 0" descr="/Users/bwoodtalton/Projects/AkiliRisk/logo/akili-horizontal-co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4754880"/>
            <a:ext cx="1234440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0" y="47731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akilirisk.com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1508760"/>
            <a:ext cx="81381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 dies unexpectedly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knows who has signing authority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password manager is inaccessible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successor trustee doesn't know they're the trustee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family business stalls; children disagree over distributions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wealth advisor, CPA, and estate attorney each had a fragment — none had the whole picture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02920" y="41605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failed financially. Everything failed operationally.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EA5D9"/>
          </a:solidFill>
          <a:ln w="12700">
            <a:solidFill>
              <a:srgbClr val="4EA5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02920"/>
            <a:ext cx="54864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Now?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6" name="Image 0" descr="/Users/bwoodtalton/Projects/AkiliRisk/logo/akili-horizontal-co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4754880"/>
            <a:ext cx="1234440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0" y="47731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akilirisk.com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25880"/>
          <a:ext cx="8321040" cy="914400"/>
        </p:xfrm>
        <a:graphic>
          <a:graphicData uri="http://schemas.openxmlformats.org/drawingml/2006/table">
            <a:tbl>
              <a:tblPr/>
              <a:tblGrid>
                <a:gridCol w="4160520"/>
                <a:gridCol w="4160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intergenerational wealth transfer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Trillions moving to unprepared heirs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Rising cybercrime vs. affluent families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HNW households are high-value targets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AI-driven fraud &amp; impersonation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engineering scales faster than vigilance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Professional commoditization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Differentiation beyond siloed expertise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Estate complexity increasing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Trusts, entities, digital assets, multi-jurisdiction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offices growing rapidly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Institutional governance without in-house build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443484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is open for a new category between fragmented professional advice and family continuity.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EA5D9"/>
          </a:solidFill>
          <a:ln w="12700">
            <a:solidFill>
              <a:srgbClr val="4EA5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02920"/>
            <a:ext cx="54864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Governance Intelligence Platform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assessments generate reports. AKILI creates a living system of record for family governance.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7" name="Image 0" descr="/Users/bwoodtalton/Projects/AkiliRisk/logo/akili-horizontal-co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4754880"/>
            <a:ext cx="1234440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0" y="47731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akilirisk.com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600200"/>
          <a:ext cx="8321040" cy="914400"/>
        </p:xfrm>
        <a:graphic>
          <a:graphicData uri="http://schemas.openxmlformats.org/drawingml/2006/table">
            <a:tbl>
              <a:tblPr/>
              <a:tblGrid>
                <a:gridCol w="4160520"/>
                <a:gridCol w="4160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Remembers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Household structure, roles, history, prior assessments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Posture across 10 risk domains with transparent scoring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over time — not a one-time PDF in a drawer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Portfolio-wide patterns across a firm's client book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Professionals, families, and deliverables in one workflow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continuity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 through action — and ongoing monitoring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02920" y="443484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sell confidence, not questionnaires.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EA5D9"/>
          </a:solidFill>
          <a:ln w="12700">
            <a:solidFill>
              <a:srgbClr val="4EA5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02920"/>
            <a:ext cx="54864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Product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Show, don't tell.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7" name="Image 0" descr="/Users/bwoodtalton/Projects/AkiliRisk/logo/akili-horizontal-co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4754880"/>
            <a:ext cx="1234440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0" y="47731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akilirisk.com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" y="1234440"/>
            <a:ext cx="3886200" cy="1508760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9050">
            <a:solidFill>
              <a:srgbClr val="4EA5D9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502920" y="155448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Heat Map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[screenshot]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2920" y="224028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Governance Score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09160" y="1234440"/>
            <a:ext cx="3886200" cy="1508760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9050">
            <a:solidFill>
              <a:srgbClr val="4EA5D9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4709160" y="155448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Advisor Pipeline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[screenshot]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709160" y="224028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→ deliverables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2920" y="2971800"/>
            <a:ext cx="3886200" cy="1508760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9050">
            <a:solidFill>
              <a:srgbClr val="4EA5D9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502920" y="329184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Risk Profile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[screenshot]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2920" y="39776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controls &amp; trends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09160" y="2971800"/>
            <a:ext cx="3886200" cy="1508760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9050">
            <a:solidFill>
              <a:srgbClr val="4EA5D9"/>
            </a:solidFill>
            <a:prstDash val="dash"/>
          </a:ln>
        </p:spPr>
      </p:sp>
      <p:sp>
        <p:nvSpPr>
          <p:cNvPr id="19" name="Text 16"/>
          <p:cNvSpPr/>
          <p:nvPr/>
        </p:nvSpPr>
        <p:spPr>
          <a:xfrm>
            <a:off x="4709160" y="329184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Branded Report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[screenshot]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709160" y="39776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Client-ready PDF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EA5D9"/>
          </a:solidFill>
          <a:ln w="12700">
            <a:solidFill>
              <a:srgbClr val="4EA5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02920"/>
            <a:ext cx="54864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Everything Is Connected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planning treats these risks independently. AKILI understands how they interact.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7" name="Image 0" descr="/Users/bwoodtalton/Projects/AkiliRisk/logo/akili-horizontal-co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4754880"/>
            <a:ext cx="1234440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0" y="47731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akilirisk.com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611880" y="1828800"/>
            <a:ext cx="1920240" cy="1920240"/>
          </a:xfrm>
          <a:prstGeom prst="ellipse">
            <a:avLst/>
          </a:prstGeom>
          <a:solidFill>
            <a:srgbClr val="1E293B"/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11880" y="23774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0" y="2788920"/>
            <a:ext cx="0" cy="-1874520"/>
          </a:xfrm>
          <a:prstGeom prst="line">
            <a:avLst/>
          </a:prstGeom>
          <a:noFill/>
          <a:ln w="15875">
            <a:solidFill>
              <a:srgbClr val="4EA5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87952" y="713232"/>
            <a:ext cx="768096" cy="402336"/>
          </a:xfrm>
          <a:prstGeom prst="ellipse">
            <a:avLst/>
          </a:prstGeom>
          <a:solidFill>
            <a:srgbClr val="F8FAFC"/>
          </a:solidFill>
          <a:ln w="12700">
            <a:solidFill>
              <a:srgbClr val="4EA5D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87952" y="768096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4572000" y="2788920"/>
            <a:ext cx="1101815" cy="-1516519"/>
          </a:xfrm>
          <a:prstGeom prst="line">
            <a:avLst/>
          </a:prstGeom>
          <a:noFill/>
          <a:ln w="15875">
            <a:solidFill>
              <a:srgbClr val="4EA5D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89767" y="1071233"/>
            <a:ext cx="768096" cy="402336"/>
          </a:xfrm>
          <a:prstGeom prst="ellipse">
            <a:avLst/>
          </a:prstGeom>
          <a:solidFill>
            <a:srgbClr val="F8FAFC"/>
          </a:solidFill>
          <a:ln w="12700">
            <a:solidFill>
              <a:srgbClr val="4EA5D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89767" y="1126097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4572000" y="2788920"/>
            <a:ext cx="1782774" cy="-579259"/>
          </a:xfrm>
          <a:prstGeom prst="line">
            <a:avLst/>
          </a:prstGeom>
          <a:noFill/>
          <a:ln w="15875">
            <a:solidFill>
              <a:srgbClr val="4EA5D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70726" y="2008493"/>
            <a:ext cx="768096" cy="402336"/>
          </a:xfrm>
          <a:prstGeom prst="ellipse">
            <a:avLst/>
          </a:prstGeom>
          <a:solidFill>
            <a:srgbClr val="F8FAFC"/>
          </a:solidFill>
          <a:ln w="12700">
            <a:solidFill>
              <a:srgbClr val="4EA5D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70726" y="2063357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4572000" y="2788920"/>
            <a:ext cx="1782774" cy="579259"/>
          </a:xfrm>
          <a:prstGeom prst="line">
            <a:avLst/>
          </a:prstGeom>
          <a:noFill/>
          <a:ln w="15875">
            <a:solidFill>
              <a:srgbClr val="4EA5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70726" y="3167011"/>
            <a:ext cx="768096" cy="402336"/>
          </a:xfrm>
          <a:prstGeom prst="ellipse">
            <a:avLst/>
          </a:prstGeom>
          <a:solidFill>
            <a:srgbClr val="F8FAFC"/>
          </a:solidFill>
          <a:ln w="12700">
            <a:solidFill>
              <a:srgbClr val="4EA5D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70726" y="3221875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4572000" y="2788920"/>
            <a:ext cx="1101815" cy="1516519"/>
          </a:xfrm>
          <a:prstGeom prst="line">
            <a:avLst/>
          </a:prstGeom>
          <a:noFill/>
          <a:ln w="15875">
            <a:solidFill>
              <a:srgbClr val="4EA5D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289767" y="4104271"/>
            <a:ext cx="768096" cy="402336"/>
          </a:xfrm>
          <a:prstGeom prst="ellipse">
            <a:avLst/>
          </a:prstGeom>
          <a:solidFill>
            <a:srgbClr val="F8FAFC"/>
          </a:solidFill>
          <a:ln w="12700">
            <a:solidFill>
              <a:srgbClr val="4EA5D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289767" y="4159135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4572000" y="2788920"/>
            <a:ext cx="0" cy="1874520"/>
          </a:xfrm>
          <a:prstGeom prst="line">
            <a:avLst/>
          </a:prstGeom>
          <a:noFill/>
          <a:ln w="15875">
            <a:solidFill>
              <a:srgbClr val="4EA5D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187952" y="4462272"/>
            <a:ext cx="768096" cy="402336"/>
          </a:xfrm>
          <a:prstGeom prst="ellipse">
            <a:avLst/>
          </a:prstGeom>
          <a:solidFill>
            <a:srgbClr val="F8FAFC"/>
          </a:solidFill>
          <a:ln w="12700">
            <a:solidFill>
              <a:srgbClr val="4EA5D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87952" y="4517136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4572000" y="2788920"/>
            <a:ext cx="-1101815" cy="1516519"/>
          </a:xfrm>
          <a:prstGeom prst="line">
            <a:avLst/>
          </a:prstGeom>
          <a:noFill/>
          <a:ln w="15875">
            <a:solidFill>
              <a:srgbClr val="4EA5D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086137" y="4104271"/>
            <a:ext cx="768096" cy="402336"/>
          </a:xfrm>
          <a:prstGeom prst="ellipse">
            <a:avLst/>
          </a:prstGeom>
          <a:solidFill>
            <a:srgbClr val="F8FAFC"/>
          </a:solidFill>
          <a:ln w="12700">
            <a:solidFill>
              <a:srgbClr val="4EA5D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086137" y="4159135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4572000" y="2788920"/>
            <a:ext cx="-1782774" cy="579259"/>
          </a:xfrm>
          <a:prstGeom prst="line">
            <a:avLst/>
          </a:prstGeom>
          <a:noFill/>
          <a:ln w="15875">
            <a:solidFill>
              <a:srgbClr val="4EA5D9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405178" y="3167011"/>
            <a:ext cx="768096" cy="402336"/>
          </a:xfrm>
          <a:prstGeom prst="ellipse">
            <a:avLst/>
          </a:prstGeom>
          <a:solidFill>
            <a:srgbClr val="F8FAFC"/>
          </a:solidFill>
          <a:ln w="12700">
            <a:solidFill>
              <a:srgbClr val="4EA5D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405178" y="3221875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4572000" y="2788920"/>
            <a:ext cx="-1782774" cy="-579259"/>
          </a:xfrm>
          <a:prstGeom prst="line">
            <a:avLst/>
          </a:prstGeom>
          <a:noFill/>
          <a:ln w="15875">
            <a:solidFill>
              <a:srgbClr val="4EA5D9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405178" y="2008493"/>
            <a:ext cx="768096" cy="402336"/>
          </a:xfrm>
          <a:prstGeom prst="ellipse">
            <a:avLst/>
          </a:prstGeom>
          <a:solidFill>
            <a:srgbClr val="F8FAFC"/>
          </a:solidFill>
          <a:ln w="12700">
            <a:solidFill>
              <a:srgbClr val="4EA5D9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405178" y="2063357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4572000" y="2788920"/>
            <a:ext cx="-1101815" cy="-1516519"/>
          </a:xfrm>
          <a:prstGeom prst="line">
            <a:avLst/>
          </a:prstGeom>
          <a:noFill/>
          <a:ln w="15875">
            <a:solidFill>
              <a:srgbClr val="4EA5D9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086137" y="1071233"/>
            <a:ext cx="768096" cy="402336"/>
          </a:xfrm>
          <a:prstGeom prst="ellipse">
            <a:avLst/>
          </a:prstGeom>
          <a:solidFill>
            <a:srgbClr val="F8FAFC"/>
          </a:solidFill>
          <a:ln w="12700">
            <a:solidFill>
              <a:srgbClr val="4EA5D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086137" y="1126097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4572000" y="914400"/>
            <a:ext cx="1101815" cy="358001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42" name="Shape 39"/>
          <p:cNvSpPr/>
          <p:nvPr/>
        </p:nvSpPr>
        <p:spPr>
          <a:xfrm>
            <a:off x="5673815" y="1272401"/>
            <a:ext cx="680959" cy="937260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43" name="Shape 40"/>
          <p:cNvSpPr/>
          <p:nvPr/>
        </p:nvSpPr>
        <p:spPr>
          <a:xfrm>
            <a:off x="6354774" y="2209661"/>
            <a:ext cx="0" cy="1158517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44" name="Shape 41"/>
          <p:cNvSpPr/>
          <p:nvPr/>
        </p:nvSpPr>
        <p:spPr>
          <a:xfrm>
            <a:off x="6354774" y="3368179"/>
            <a:ext cx="-680959" cy="937260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45" name="Shape 42"/>
          <p:cNvSpPr/>
          <p:nvPr/>
        </p:nvSpPr>
        <p:spPr>
          <a:xfrm>
            <a:off x="5673815" y="4305439"/>
            <a:ext cx="-1101815" cy="358001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46" name="Shape 43"/>
          <p:cNvSpPr/>
          <p:nvPr/>
        </p:nvSpPr>
        <p:spPr>
          <a:xfrm>
            <a:off x="4572000" y="4663440"/>
            <a:ext cx="-1101815" cy="-358001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47" name="Shape 44"/>
          <p:cNvSpPr/>
          <p:nvPr/>
        </p:nvSpPr>
        <p:spPr>
          <a:xfrm>
            <a:off x="3470185" y="4305439"/>
            <a:ext cx="-680959" cy="-937260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48" name="Shape 45"/>
          <p:cNvSpPr/>
          <p:nvPr/>
        </p:nvSpPr>
        <p:spPr>
          <a:xfrm>
            <a:off x="2789226" y="3368179"/>
            <a:ext cx="0" cy="-1158517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49" name="Shape 46"/>
          <p:cNvSpPr/>
          <p:nvPr/>
        </p:nvSpPr>
        <p:spPr>
          <a:xfrm>
            <a:off x="2789226" y="2209661"/>
            <a:ext cx="680959" cy="-937260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50" name="Shape 47"/>
          <p:cNvSpPr/>
          <p:nvPr/>
        </p:nvSpPr>
        <p:spPr>
          <a:xfrm>
            <a:off x="3470185" y="1272401"/>
            <a:ext cx="1101815" cy="-358001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51" name="Shape 48"/>
          <p:cNvSpPr/>
          <p:nvPr/>
        </p:nvSpPr>
        <p:spPr>
          <a:xfrm>
            <a:off x="4572000" y="914400"/>
            <a:ext cx="1101815" cy="358001"/>
          </a:xfrm>
          <a:prstGeom prst="line">
            <a:avLst/>
          </a:prstGeom>
          <a:noFill/>
          <a:ln w="12700">
            <a:solidFill>
              <a:srgbClr val="D97706"/>
            </a:solidFill>
            <a:prstDash val="sysDot"/>
          </a:ln>
        </p:spPr>
      </p:sp>
      <p:sp>
        <p:nvSpPr>
          <p:cNvPr id="52" name="Shape 49"/>
          <p:cNvSpPr/>
          <p:nvPr/>
        </p:nvSpPr>
        <p:spPr>
          <a:xfrm>
            <a:off x="5673815" y="1272401"/>
            <a:ext cx="680959" cy="937260"/>
          </a:xfrm>
          <a:prstGeom prst="line">
            <a:avLst/>
          </a:prstGeom>
          <a:noFill/>
          <a:ln w="12700">
            <a:solidFill>
              <a:srgbClr val="D97706"/>
            </a:solidFill>
            <a:prstDash val="sysDot"/>
          </a:ln>
        </p:spPr>
      </p:sp>
      <p:sp>
        <p:nvSpPr>
          <p:cNvPr id="53" name="Shape 50"/>
          <p:cNvSpPr/>
          <p:nvPr/>
        </p:nvSpPr>
        <p:spPr>
          <a:xfrm>
            <a:off x="6354774" y="2209661"/>
            <a:ext cx="0" cy="1158517"/>
          </a:xfrm>
          <a:prstGeom prst="line">
            <a:avLst/>
          </a:prstGeom>
          <a:noFill/>
          <a:ln w="12700">
            <a:solidFill>
              <a:srgbClr val="D97706"/>
            </a:solidFill>
            <a:prstDash val="sysDot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EA5D9"/>
          </a:solidFill>
          <a:ln w="12700">
            <a:solidFill>
              <a:srgbClr val="4EA5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02920"/>
            <a:ext cx="54864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10-Pillar Framework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today · Family Governance Score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7" name="Image 0" descr="/Users/bwoodtalton/Projects/AkiliRisk/logo/akili-horizontal-co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4754880"/>
            <a:ext cx="1234440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0" y="47731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akilirisk.com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703320" y="2148840"/>
            <a:ext cx="1737360" cy="173736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4EA5D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03320" y="25146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069080" y="667512"/>
            <a:ext cx="1005840" cy="402336"/>
          </a:xfrm>
          <a:prstGeom prst="roundRect">
            <a:avLst>
              <a:gd name="adj" fmla="val 11364"/>
            </a:avLst>
          </a:prstGeom>
          <a:solidFill>
            <a:srgbClr val="4EA5D9"/>
          </a:solidFill>
          <a:ln w="9525">
            <a:solidFill>
              <a:srgbClr val="4EA5D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69080" y="72237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4572000" y="3017520"/>
            <a:ext cx="0" cy="-214884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332136" y="1077904"/>
            <a:ext cx="1005840" cy="402336"/>
          </a:xfrm>
          <a:prstGeom prst="roundRect">
            <a:avLst>
              <a:gd name="adj" fmla="val 11364"/>
            </a:avLst>
          </a:prstGeom>
          <a:solidFill>
            <a:srgbClr val="F8FAFC"/>
          </a:solidFill>
          <a:ln w="9525">
            <a:solidFill>
              <a:srgbClr val="4EA5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32136" y="11327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&amp; Digital</a:t>
            </a:r>
            <a:endParaRPr lang="en-US" sz="650" dirty="0"/>
          </a:p>
        </p:txBody>
      </p:sp>
      <p:sp>
        <p:nvSpPr>
          <p:cNvPr id="16" name="Shape 13"/>
          <p:cNvSpPr/>
          <p:nvPr/>
        </p:nvSpPr>
        <p:spPr>
          <a:xfrm>
            <a:off x="4572000" y="3017520"/>
            <a:ext cx="1263056" cy="-17384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12748" y="2152324"/>
            <a:ext cx="1005840" cy="402336"/>
          </a:xfrm>
          <a:prstGeom prst="roundRect">
            <a:avLst>
              <a:gd name="adj" fmla="val 11364"/>
            </a:avLst>
          </a:prstGeom>
          <a:solidFill>
            <a:srgbClr val="4EA5D9"/>
          </a:solidFill>
          <a:ln w="9525">
            <a:solidFill>
              <a:srgbClr val="4EA5D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12748" y="220718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Security</a:t>
            </a:r>
            <a:endParaRPr lang="en-US" sz="650" dirty="0"/>
          </a:p>
        </p:txBody>
      </p:sp>
      <p:sp>
        <p:nvSpPr>
          <p:cNvPr id="19" name="Shape 16"/>
          <p:cNvSpPr/>
          <p:nvPr/>
        </p:nvSpPr>
        <p:spPr>
          <a:xfrm>
            <a:off x="4572000" y="3017520"/>
            <a:ext cx="2043668" cy="-66402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12748" y="3480380"/>
            <a:ext cx="1005840" cy="402336"/>
          </a:xfrm>
          <a:prstGeom prst="roundRect">
            <a:avLst>
              <a:gd name="adj" fmla="val 11364"/>
            </a:avLst>
          </a:prstGeom>
          <a:solidFill>
            <a:srgbClr val="F8FAFC"/>
          </a:solidFill>
          <a:ln w="9525">
            <a:solidFill>
              <a:srgbClr val="4EA5D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12748" y="353524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&amp; Risk Transfer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4572000" y="3017520"/>
            <a:ext cx="2043668" cy="66402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332136" y="4554800"/>
            <a:ext cx="1005840" cy="402336"/>
          </a:xfrm>
          <a:prstGeom prst="roundRect">
            <a:avLst>
              <a:gd name="adj" fmla="val 11364"/>
            </a:avLst>
          </a:prstGeom>
          <a:solidFill>
            <a:srgbClr val="4EA5D9"/>
          </a:solidFill>
          <a:ln w="9525">
            <a:solidFill>
              <a:srgbClr val="4EA5D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32136" y="460966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&amp; Environmental</a:t>
            </a:r>
            <a:endParaRPr lang="en-US" sz="650" dirty="0"/>
          </a:p>
        </p:txBody>
      </p:sp>
      <p:sp>
        <p:nvSpPr>
          <p:cNvPr id="25" name="Shape 22"/>
          <p:cNvSpPr/>
          <p:nvPr/>
        </p:nvSpPr>
        <p:spPr>
          <a:xfrm>
            <a:off x="4572000" y="3017520"/>
            <a:ext cx="1263056" cy="17384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069080" y="4965192"/>
            <a:ext cx="1005840" cy="402336"/>
          </a:xfrm>
          <a:prstGeom prst="roundRect">
            <a:avLst>
              <a:gd name="adj" fmla="val 11364"/>
            </a:avLst>
          </a:prstGeom>
          <a:solidFill>
            <a:srgbClr val="F8FAFC"/>
          </a:solidFill>
          <a:ln w="9525">
            <a:solidFill>
              <a:srgbClr val="4EA5D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069080" y="502005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&amp; Social</a:t>
            </a:r>
            <a:endParaRPr lang="en-US" sz="650" dirty="0"/>
          </a:p>
        </p:txBody>
      </p:sp>
      <p:sp>
        <p:nvSpPr>
          <p:cNvPr id="28" name="Shape 25"/>
          <p:cNvSpPr/>
          <p:nvPr/>
        </p:nvSpPr>
        <p:spPr>
          <a:xfrm>
            <a:off x="4572000" y="3017520"/>
            <a:ext cx="0" cy="214884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806024" y="4554800"/>
            <a:ext cx="1005840" cy="402336"/>
          </a:xfrm>
          <a:prstGeom prst="roundRect">
            <a:avLst>
              <a:gd name="adj" fmla="val 11364"/>
            </a:avLst>
          </a:prstGeom>
          <a:solidFill>
            <a:srgbClr val="4EA5D9"/>
          </a:solidFill>
          <a:ln w="9525">
            <a:solidFill>
              <a:srgbClr val="4EA5D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806024" y="460966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&amp; Cash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4572000" y="3017520"/>
            <a:ext cx="-1263056" cy="17384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025412" y="3480380"/>
            <a:ext cx="1005840" cy="402336"/>
          </a:xfrm>
          <a:prstGeom prst="roundRect">
            <a:avLst>
              <a:gd name="adj" fmla="val 11364"/>
            </a:avLst>
          </a:prstGeom>
          <a:solidFill>
            <a:srgbClr val="F8FAFC"/>
          </a:solidFill>
          <a:ln w="9525">
            <a:solidFill>
              <a:srgbClr val="4EA5D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025412" y="353524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Exposure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0" y="3017520"/>
            <a:ext cx="-2043668" cy="66402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025412" y="2152324"/>
            <a:ext cx="1005840" cy="402336"/>
          </a:xfrm>
          <a:prstGeom prst="roundRect">
            <a:avLst>
              <a:gd name="adj" fmla="val 11364"/>
            </a:avLst>
          </a:prstGeom>
          <a:solidFill>
            <a:srgbClr val="4EA5D9"/>
          </a:solidFill>
          <a:ln w="9525">
            <a:solidFill>
              <a:srgbClr val="4EA5D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025412" y="220718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 &amp; Succession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0" y="3017520"/>
            <a:ext cx="-2043668" cy="-66402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806024" y="1077904"/>
            <a:ext cx="1005840" cy="402336"/>
          </a:xfrm>
          <a:prstGeom prst="roundRect">
            <a:avLst>
              <a:gd name="adj" fmla="val 11364"/>
            </a:avLst>
          </a:prstGeom>
          <a:solidFill>
            <a:srgbClr val="F8FAFC"/>
          </a:solidFill>
          <a:ln w="9525">
            <a:solidFill>
              <a:srgbClr val="4EA5D9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806024" y="11327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Resilience</a:t>
            </a:r>
            <a:endParaRPr lang="en-US" sz="650" dirty="0"/>
          </a:p>
        </p:txBody>
      </p:sp>
      <p:sp>
        <p:nvSpPr>
          <p:cNvPr id="40" name="Shape 37"/>
          <p:cNvSpPr/>
          <p:nvPr/>
        </p:nvSpPr>
        <p:spPr>
          <a:xfrm>
            <a:off x="4572000" y="3017520"/>
            <a:ext cx="-1263056" cy="-17384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02920" y="443484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scope 1–10 pillars per engagement.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EA5D9"/>
          </a:solidFill>
          <a:ln w="12700">
            <a:solidFill>
              <a:srgbClr val="4EA5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02920"/>
            <a:ext cx="54864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Market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· multiple professional front doors · wealth advisory deployed first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7" name="Image 0" descr="/Users/bwoodtalton/Projects/AkiliRisk/logo/akili-horizontal-co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4754880"/>
            <a:ext cx="1234440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0" y="47731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akilirisk.com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25880"/>
          <a:ext cx="8321040" cy="914400"/>
        </p:xfrm>
        <a:graphic>
          <a:graphicData uri="http://schemas.openxmlformats.org/drawingml/2006/table">
            <a:tbl>
              <a:tblPr/>
              <a:tblGrid>
                <a:gridCol w="4160520"/>
                <a:gridCol w="4160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WealthTech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$[X]B global — professional digitization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Intergenerational transfer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$[X]T transferring (US, next decade)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HNW professional services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$[X]B+ advisory, tax, legal, succession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HNW cybersecurity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$[X]B protecting digital &amp; financial exposure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063240"/>
          <a:ext cx="8321040" cy="914400"/>
        </p:xfrm>
        <a:graphic>
          <a:graphicData uri="http://schemas.openxmlformats.org/drawingml/2006/table">
            <a:tbl>
              <a:tblPr/>
              <a:tblGrid>
                <a:gridCol w="4160520"/>
                <a:gridCol w="4160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Wealth advisors &amp; RIAs (US)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beyond portfolio returns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CPAs &amp; tax advisory firms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Tax, liquidity, continuity intelligence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Estate attorneys &amp; succession planners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Evidence-based governance assessment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offices (global)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Standardize governance across generations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professional firms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White-label governance intelligence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EA5D9"/>
          </a:solidFill>
          <a:ln w="12700">
            <a:solidFill>
              <a:srgbClr val="4EA5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02920"/>
            <a:ext cx="54864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Business Model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— firm and practice subscriptions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7" name="Image 0" descr="/Users/bwoodtalton/Projects/AkiliRisk/logo/akili-horizontal-co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4754880"/>
            <a:ext cx="1234440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0" y="47731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akilirisk.com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17320"/>
          <a:ext cx="8321040" cy="914400"/>
        </p:xfrm>
        <a:graphic>
          <a:graphicData uri="http://schemas.openxmlformats.org/drawingml/2006/table">
            <a:tbl>
              <a:tblPr/>
              <a:tblGrid>
                <a:gridCol w="2773680"/>
                <a:gridCol w="2773680"/>
                <a:gridCol w="2773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Essentials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practitioner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Established firm + customization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Growing firm + branding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Platinum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High-volume firm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Negotiated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Multi-seat firms (sales-assisted)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02920" y="3520440"/>
            <a:ext cx="8138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/ annual billing (Stripe live)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upgrades · enterprise seats · monitoring &amp; reassessment · white-label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EA5D9"/>
          </a:solidFill>
          <a:ln w="12700">
            <a:solidFill>
              <a:srgbClr val="4EA5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02920"/>
            <a:ext cx="54864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We're Different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6" name="Image 0" descr="/Users/bwoodtalton/Projects/AkiliRisk/logo/akili-horizontal-co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4754880"/>
            <a:ext cx="1234440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0" y="47731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akilirisk.com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17320"/>
          <a:ext cx="8321040" cy="914400"/>
        </p:xfrm>
        <a:graphic>
          <a:graphicData uri="http://schemas.openxmlformats.org/drawingml/2006/table">
            <a:tbl>
              <a:tblPr/>
              <a:tblGrid>
                <a:gridCol w="2773680"/>
                <a:gridCol w="2773680"/>
                <a:gridCol w="2773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planning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AKILI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Siloed expertise (tax, legal, wealth)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Whole-family operational 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PDFs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Living intelligence platform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Episodic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monitoring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Single-domain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+ cyber + estate + tax + 7 more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vendor branding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White-label subdomain, custom intake, firm methodology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 — Family Governance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39776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 isn't the pillar list.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02920" y="425196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of record for family governance — plus white-label delivery so firms own the client relationship.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EA5D9"/>
          </a:solidFill>
          <a:ln w="12700">
            <a:solidFill>
              <a:srgbClr val="4EA5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02920"/>
            <a:ext cx="54864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is live. We are not pitching a roadmap.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7" name="Image 0" descr="/Users/bwoodtalton/Projects/AkiliRisk/logo/akili-horizontal-co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4754880"/>
            <a:ext cx="1234440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0" y="47731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akilirisk.com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" y="1325880"/>
            <a:ext cx="8138160" cy="594360"/>
          </a:xfrm>
          <a:prstGeom prst="roundRect">
            <a:avLst>
              <a:gd name="adj" fmla="val 1230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44475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Belvedere — first enterprise client · production white-label deployment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057400"/>
          <a:ext cx="8321040" cy="914400"/>
        </p:xfrm>
        <a:graphic>
          <a:graphicData uri="http://schemas.openxmlformats.org/drawingml/2006/table">
            <a:tbl>
              <a:tblPr/>
              <a:tblGrid>
                <a:gridCol w="4160520"/>
                <a:gridCol w="4160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&amp; shipped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production pillars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methodology catalog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150+ questions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bank, firm-customizable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Practitioner workspace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Pipeline, intelligence, facilitated sessions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+ white-label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Subdomains, custom intake, methodology overlays, Stripe billing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lifecycle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plans · tracking · reassessment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AI-assisted intake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interview + transcription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EA5D9"/>
          </a:solidFill>
          <a:ln w="12700">
            <a:solidFill>
              <a:srgbClr val="4EA5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02920"/>
            <a:ext cx="54864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Roadmap &amp; AI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intelligence platform → category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7" name="Image 0" descr="/Users/bwoodtalton/Projects/AkiliRisk/logo/akili-horizontal-co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4754880"/>
            <a:ext cx="1234440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0" y="47731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akilirisk.com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17320"/>
          <a:ext cx="8321040" cy="914400"/>
        </p:xfrm>
        <a:graphic>
          <a:graphicData uri="http://schemas.openxmlformats.org/drawingml/2006/table">
            <a:tbl>
              <a:tblPr/>
              <a:tblGrid>
                <a:gridCol w="4160520"/>
                <a:gridCol w="4160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Now (shipped)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10-pillar assessment, professional workflow, lifecycle loop, enterprise, billing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Cross-pillar AI insights · executive reporting · continuity scoring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Living records · policy mgmt · continuous monitoring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02920" y="3246120"/>
            <a:ext cx="8138160" cy="1051560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9050">
            <a:solidFill>
              <a:srgbClr val="4EA5D9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85800" y="33832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Risk Insight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85800" y="37033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cyber risk combined with concentrated ownership and no documented successor increases business continuity risk by 42%.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EA5D9"/>
          </a:solidFill>
          <a:ln w="12700">
            <a:solidFill>
              <a:srgbClr val="4EA5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02920"/>
            <a:ext cx="54864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We Can Win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Founder-market fit — built with practitioners, shipped in production.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7" name="Image 0" descr="/Users/bwoodtalton/Projects/AkiliRisk/logo/akili-horizontal-co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4754880"/>
            <a:ext cx="1234440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0" y="47731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akilirisk.com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1600200"/>
            <a:ext cx="81381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years building enterprise software and leading engineering organizations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of Habits — scaled AI products and enterprise SaaS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alongside practitioners — wealth, tax, legal, and family-office workflows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platform live — white-label, multi-seat, billing, first enterprise client deployed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02920" y="406908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combine enterprise platform depth with domain practitioners — and we've already shipped what most startups only pitch.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EA5D9"/>
          </a:solidFill>
          <a:ln w="12700">
            <a:solidFill>
              <a:srgbClr val="4EA5D9"/>
            </a:solidFill>
            <a:prstDash val="solid"/>
          </a:ln>
        </p:spPr>
      </p:sp>
      <p:pic>
        <p:nvPicPr>
          <p:cNvPr id="3" name="Image 0" descr="/Users/bwoodtalton/Projects/AkiliRisk/logo/akili-stacked-we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502920"/>
            <a:ext cx="2926080" cy="1691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240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Ask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85800" y="278892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E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raising $3.5M Seed to become the governance intelligence platform for modern family wealth.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611880"/>
          <a:ext cx="8321040" cy="914400"/>
        </p:xfrm>
        <a:graphic>
          <a:graphicData uri="http://schemas.openxmlformats.org/drawingml/2006/table">
            <a:tbl>
              <a:tblPr/>
              <a:tblGrid>
                <a:gridCol w="4160520"/>
                <a:gridCol w="4160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$3.5M Seed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leadership — system of record for family governance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[X] enterprise firms · [Y] households · [Z] ARR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hello@akilirisk.com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pic>
        <p:nvPicPr>
          <p:cNvPr id="8" name="Image 1" descr="/Users/bwoodtalton/Projects/AkiliRisk/logo/akili-horizontal-compa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754880"/>
            <a:ext cx="1234440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498080" y="47731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EA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akilirisk.com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AKILI Risk Intelligence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AKILI Risk Intelligence — Investor Deck</dc:title>
  <dc:subject>Investor Deck</dc:subject>
  <dc:creator>AKILI Risk Intelligence</dc:creator>
  <cp:lastModifiedBy>AKILI Risk Intelligence</cp:lastModifiedBy>
  <cp:revision>1</cp:revision>
  <dcterms:created xsi:type="dcterms:W3CDTF">2026-06-28T16:01:21Z</dcterms:created>
  <dcterms:modified xsi:type="dcterms:W3CDTF">2026-06-28T16:01:21Z</dcterms:modified>
</cp:coreProperties>
</file>